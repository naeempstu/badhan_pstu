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Oswald 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845" y="13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58071" y="-46291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831256" y="2256871"/>
            <a:ext cx="8538524" cy="3920899"/>
            <a:chOff x="0" y="0"/>
            <a:chExt cx="1508202" cy="6086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8202" cy="608676"/>
            </a:xfrm>
            <a:custGeom>
              <a:avLst/>
              <a:gdLst/>
              <a:ahLst/>
              <a:cxnLst/>
              <a:rect l="l" t="t" r="r" b="b"/>
              <a:pathLst>
                <a:path w="1508202" h="608676">
                  <a:moveTo>
                    <a:pt x="0" y="0"/>
                  </a:moveTo>
                  <a:lnTo>
                    <a:pt x="1508202" y="0"/>
                  </a:lnTo>
                  <a:lnTo>
                    <a:pt x="1508202" y="608676"/>
                  </a:lnTo>
                  <a:lnTo>
                    <a:pt x="0" y="6086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508202" cy="675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38593" y="621929"/>
            <a:ext cx="8413310" cy="1072697"/>
          </a:xfrm>
          <a:custGeom>
            <a:avLst/>
            <a:gdLst/>
            <a:ahLst/>
            <a:cxnLst/>
            <a:rect l="l" t="t" r="r" b="b"/>
            <a:pathLst>
              <a:path w="8413310" h="1072697">
                <a:moveTo>
                  <a:pt x="0" y="0"/>
                </a:moveTo>
                <a:lnTo>
                  <a:pt x="8413310" y="0"/>
                </a:lnTo>
                <a:lnTo>
                  <a:pt x="8413310" y="1072697"/>
                </a:lnTo>
                <a:lnTo>
                  <a:pt x="0" y="1072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80795" y="2407376"/>
            <a:ext cx="9639448" cy="130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0"/>
              </a:lnSpc>
              <a:spcBef>
                <a:spcPct val="0"/>
              </a:spcBef>
            </a:pPr>
            <a:r>
              <a:rPr lang="en-US" sz="7207" b="1" dirty="0">
                <a:solidFill>
                  <a:srgbClr val="0D4F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Welcome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63277" y="3545713"/>
            <a:ext cx="4674484" cy="182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5"/>
              </a:lnSpc>
              <a:spcBef>
                <a:spcPct val="0"/>
              </a:spcBef>
            </a:pPr>
            <a:r>
              <a:rPr lang="en-US" sz="52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</a:t>
            </a:r>
          </a:p>
          <a:p>
            <a:pPr algn="ctr">
              <a:lnSpc>
                <a:spcPts val="6845"/>
              </a:lnSpc>
              <a:spcBef>
                <a:spcPct val="0"/>
              </a:spcBef>
            </a:pPr>
            <a:r>
              <a:rPr lang="en-US" sz="52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My Presentation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06273" y="8267128"/>
            <a:ext cx="12275453" cy="132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0"/>
              </a:lnSpc>
              <a:spcBef>
                <a:spcPct val="0"/>
              </a:spcBef>
            </a:pPr>
            <a:r>
              <a:rPr lang="en-US" sz="3838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Topic: Modern Technologies in Egg Grading and Packaging.</a:t>
            </a:r>
          </a:p>
          <a:p>
            <a:pPr algn="ctr">
              <a:lnSpc>
                <a:spcPts val="4990"/>
              </a:lnSpc>
              <a:spcBef>
                <a:spcPct val="0"/>
              </a:spcBef>
            </a:pPr>
            <a:endParaRPr lang="en-US" sz="3838" b="1">
              <a:solidFill>
                <a:srgbClr val="5713E8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936674" y="6254115"/>
            <a:ext cx="6327689" cy="186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  <a:spcBef>
                <a:spcPct val="0"/>
              </a:spcBef>
            </a:pPr>
            <a:r>
              <a:rPr lang="en-US" sz="3958" b="1" dirty="0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FARIA ZAMAN ANAMIKA</a:t>
            </a:r>
          </a:p>
          <a:p>
            <a:pPr algn="ctr">
              <a:lnSpc>
                <a:spcPts val="4750"/>
              </a:lnSpc>
              <a:spcBef>
                <a:spcPct val="0"/>
              </a:spcBef>
            </a:pPr>
            <a:r>
              <a:rPr lang="en-US" sz="3958" b="1" dirty="0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ID: 0242320007121330</a:t>
            </a:r>
          </a:p>
          <a:p>
            <a:pPr algn="ctr">
              <a:lnSpc>
                <a:spcPts val="4750"/>
              </a:lnSpc>
              <a:spcBef>
                <a:spcPct val="0"/>
              </a:spcBef>
            </a:pPr>
            <a:r>
              <a:rPr lang="en-US" sz="3958" b="1" dirty="0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SECTION: 232 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58071" y="-46291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37104" y="1856508"/>
            <a:ext cx="2859925" cy="67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  <a:spcBef>
                <a:spcPct val="0"/>
              </a:spcBef>
            </a:pPr>
            <a:r>
              <a:rPr lang="en-US" sz="3958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84682" y="2933700"/>
            <a:ext cx="10228322" cy="578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981" lvl="1" indent="-340991" algn="l">
              <a:lnSpc>
                <a:spcPts val="3790"/>
              </a:lnSpc>
              <a:buFont typeface="Arial"/>
              <a:buChar char="•"/>
            </a:pPr>
            <a:r>
              <a:rPr lang="en-US" sz="31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  <a:p>
            <a:pPr algn="l">
              <a:lnSpc>
                <a:spcPts val="3790"/>
              </a:lnSpc>
            </a:pPr>
            <a:endParaRPr lang="en-US" sz="315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81981" lvl="1" indent="-340991" algn="l">
              <a:lnSpc>
                <a:spcPts val="3790"/>
              </a:lnSpc>
              <a:buFont typeface="Arial"/>
              <a:buChar char="•"/>
            </a:pPr>
            <a:r>
              <a:rPr lang="en-US" sz="31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IMPORTANCE (NUTRITIONAL/ECONOMICAL)</a:t>
            </a:r>
          </a:p>
          <a:p>
            <a:pPr algn="l">
              <a:lnSpc>
                <a:spcPts val="3790"/>
              </a:lnSpc>
            </a:pPr>
            <a:endParaRPr lang="en-US" sz="315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81981" lvl="1" indent="-340991" algn="l">
              <a:lnSpc>
                <a:spcPts val="3790"/>
              </a:lnSpc>
              <a:buFont typeface="Arial"/>
              <a:buChar char="•"/>
            </a:pPr>
            <a:r>
              <a:rPr lang="en-US" sz="31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MECHANISM/PRODUCTION PROCEDURE</a:t>
            </a:r>
          </a:p>
          <a:p>
            <a:pPr algn="l">
              <a:lnSpc>
                <a:spcPts val="3790"/>
              </a:lnSpc>
            </a:pPr>
            <a:endParaRPr lang="en-US" sz="315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81981" lvl="1" indent="-340991" algn="l">
              <a:lnSpc>
                <a:spcPts val="3790"/>
              </a:lnSpc>
              <a:buFont typeface="Arial"/>
              <a:buChar char="•"/>
            </a:pPr>
            <a:r>
              <a:rPr lang="en-US" sz="31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APPLICATION/USE</a:t>
            </a:r>
          </a:p>
          <a:p>
            <a:pPr algn="l">
              <a:lnSpc>
                <a:spcPts val="3790"/>
              </a:lnSpc>
            </a:pPr>
            <a:endParaRPr lang="en-US" sz="315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81981" lvl="1" indent="-340991" algn="l">
              <a:lnSpc>
                <a:spcPts val="3790"/>
              </a:lnSpc>
              <a:buFont typeface="Arial"/>
              <a:buChar char="•"/>
            </a:pPr>
            <a:r>
              <a:rPr lang="en-US" sz="31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3790"/>
              </a:lnSpc>
            </a:pPr>
            <a:endParaRPr lang="en-US" sz="315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81981" lvl="1" indent="-340991" algn="l">
              <a:lnSpc>
                <a:spcPts val="3790"/>
              </a:lnSpc>
              <a:buFont typeface="Arial"/>
              <a:buChar char="•"/>
            </a:pPr>
            <a:r>
              <a:rPr lang="en-US" sz="31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  <a:p>
            <a:pPr algn="l">
              <a:lnSpc>
                <a:spcPts val="3790"/>
              </a:lnSpc>
            </a:pPr>
            <a:endParaRPr lang="en-US" sz="315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-4012602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16048">
            <a:off x="12243487" y="-1005305"/>
            <a:ext cx="10749463" cy="2687366"/>
          </a:xfrm>
          <a:custGeom>
            <a:avLst/>
            <a:gdLst/>
            <a:ahLst/>
            <a:cxnLst/>
            <a:rect l="l" t="t" r="r" b="b"/>
            <a:pathLst>
              <a:path w="10749463" h="2687366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83913" y="1282339"/>
            <a:ext cx="5691628" cy="89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6"/>
              </a:lnSpc>
            </a:pPr>
            <a:r>
              <a:rPr lang="en-US" sz="4743" b="1" spc="464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80586" y="3100045"/>
            <a:ext cx="13576733" cy="351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8294" lvl="1" indent="-404147" algn="just">
              <a:lnSpc>
                <a:spcPts val="4492"/>
              </a:lnSpc>
              <a:spcBef>
                <a:spcPct val="0"/>
              </a:spcBef>
              <a:buFont typeface="Arial"/>
              <a:buChar char="•"/>
            </a:pPr>
            <a:r>
              <a:rPr lang="en-US" sz="3743" b="1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EGG GRADING &amp; PACKAGING ENSURE QUALITY, SAFETY &amp; CONSUMER TRUST.</a:t>
            </a:r>
          </a:p>
          <a:p>
            <a:pPr algn="just">
              <a:lnSpc>
                <a:spcPts val="4492"/>
              </a:lnSpc>
              <a:spcBef>
                <a:spcPct val="0"/>
              </a:spcBef>
            </a:pPr>
            <a:endParaRPr lang="en-US" sz="3743" b="1">
              <a:solidFill>
                <a:srgbClr val="231F2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808294" lvl="1" indent="-404147" algn="just">
              <a:lnSpc>
                <a:spcPts val="4492"/>
              </a:lnSpc>
              <a:spcBef>
                <a:spcPct val="0"/>
              </a:spcBef>
              <a:buFont typeface="Arial"/>
              <a:buChar char="•"/>
            </a:pPr>
            <a:r>
              <a:rPr lang="en-US" sz="3743" b="1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MODERN TECHNOLOGIES HAVE MADE THE PROCESS FASTER AND MORE ACCURATE.</a:t>
            </a:r>
          </a:p>
          <a:p>
            <a:pPr algn="just">
              <a:lnSpc>
                <a:spcPts val="4972"/>
              </a:lnSpc>
              <a:spcBef>
                <a:spcPct val="0"/>
              </a:spcBef>
            </a:pPr>
            <a:endParaRPr lang="en-US" sz="3743" b="1">
              <a:solidFill>
                <a:srgbClr val="231F2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662994" y="337474"/>
            <a:ext cx="4296549" cy="9570246"/>
            <a:chOff x="0" y="0"/>
            <a:chExt cx="1131601" cy="25205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1601" cy="2520559"/>
            </a:xfrm>
            <a:custGeom>
              <a:avLst/>
              <a:gdLst/>
              <a:ahLst/>
              <a:cxnLst/>
              <a:rect l="l" t="t" r="r" b="b"/>
              <a:pathLst>
                <a:path w="1131601" h="2520559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131601" cy="2539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015075" y="8412991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779578" y="734131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6973474"/>
            <a:ext cx="10415334" cy="1729227"/>
            <a:chOff x="0" y="0"/>
            <a:chExt cx="3990565" cy="6625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90565" cy="662542"/>
            </a:xfrm>
            <a:custGeom>
              <a:avLst/>
              <a:gdLst/>
              <a:ahLst/>
              <a:cxnLst/>
              <a:rect l="l" t="t" r="r" b="b"/>
              <a:pathLst>
                <a:path w="3990565" h="662542">
                  <a:moveTo>
                    <a:pt x="0" y="0"/>
                  </a:moveTo>
                  <a:lnTo>
                    <a:pt x="3990565" y="0"/>
                  </a:lnTo>
                  <a:lnTo>
                    <a:pt x="3990565" y="662542"/>
                  </a:lnTo>
                  <a:lnTo>
                    <a:pt x="0" y="662542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990565" cy="68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354440" y="2378487"/>
            <a:ext cx="6904860" cy="5178645"/>
          </a:xfrm>
          <a:custGeom>
            <a:avLst/>
            <a:gdLst/>
            <a:ahLst/>
            <a:cxnLst/>
            <a:rect l="l" t="t" r="r" b="b"/>
            <a:pathLst>
              <a:path w="6904860" h="5178645">
                <a:moveTo>
                  <a:pt x="0" y="0"/>
                </a:moveTo>
                <a:lnTo>
                  <a:pt x="6904860" y="0"/>
                </a:lnTo>
                <a:lnTo>
                  <a:pt x="6904860" y="5178645"/>
                </a:lnTo>
                <a:lnTo>
                  <a:pt x="0" y="5178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93938" y="2483303"/>
            <a:ext cx="9377172" cy="485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674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NUTRITIONAL:</a:t>
            </a:r>
          </a:p>
          <a:p>
            <a:pPr algn="l">
              <a:lnSpc>
                <a:spcPts val="3209"/>
              </a:lnSpc>
            </a:pPr>
            <a:endParaRPr lang="en-US" sz="2674" b="1">
              <a:solidFill>
                <a:srgbClr val="5713E8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1154749" lvl="2" indent="-384916" algn="l">
              <a:lnSpc>
                <a:spcPts val="3209"/>
              </a:lnSpc>
              <a:buFont typeface="Arial"/>
              <a:buChar char="⚬"/>
            </a:pPr>
            <a:r>
              <a:rPr lang="en-US" sz="26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ENSURES SAFE, FRESH, CLEAN EGGS</a:t>
            </a:r>
          </a:p>
          <a:p>
            <a:pPr marL="1154749" lvl="2" indent="-384916" algn="l">
              <a:lnSpc>
                <a:spcPts val="3209"/>
              </a:lnSpc>
              <a:buFont typeface="Arial"/>
              <a:buChar char="⚬"/>
            </a:pPr>
            <a:r>
              <a:rPr lang="en-US" sz="26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PREVENTS SPOILED OR CONTAMINATED EGGS REACHING CONSUMERS</a:t>
            </a:r>
          </a:p>
          <a:p>
            <a:pPr marL="1154749" lvl="2" indent="-384916" algn="l">
              <a:lnSpc>
                <a:spcPts val="3209"/>
              </a:lnSpc>
              <a:buFont typeface="Arial"/>
              <a:buChar char="⚬"/>
            </a:pPr>
            <a:endParaRPr lang="en-US" sz="2674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209"/>
              </a:lnSpc>
            </a:pPr>
            <a:r>
              <a:rPr lang="en-US" sz="2674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ECONOMICAL:</a:t>
            </a:r>
          </a:p>
          <a:p>
            <a:pPr algn="l">
              <a:lnSpc>
                <a:spcPts val="3209"/>
              </a:lnSpc>
            </a:pPr>
            <a:endParaRPr lang="en-US" sz="2674" b="1">
              <a:solidFill>
                <a:srgbClr val="5713E8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1154749" lvl="2" indent="-384916" algn="l">
              <a:lnSpc>
                <a:spcPts val="3209"/>
              </a:lnSpc>
              <a:buFont typeface="Arial"/>
              <a:buChar char="⚬"/>
            </a:pPr>
            <a:r>
              <a:rPr lang="en-US" sz="26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REDUCES LABOR COST</a:t>
            </a:r>
          </a:p>
          <a:p>
            <a:pPr marL="1154749" lvl="2" indent="-384916" algn="l">
              <a:lnSpc>
                <a:spcPts val="3209"/>
              </a:lnSpc>
              <a:buFont typeface="Arial"/>
              <a:buChar char="⚬"/>
            </a:pPr>
            <a:r>
              <a:rPr lang="en-US" sz="26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BOOSTS CONSUMER TRUST AND BRAND VALUE</a:t>
            </a:r>
          </a:p>
          <a:p>
            <a:pPr algn="just">
              <a:lnSpc>
                <a:spcPts val="3209"/>
              </a:lnSpc>
            </a:pPr>
            <a:endParaRPr lang="en-US" sz="2674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0545" y="962025"/>
            <a:ext cx="7975975" cy="117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0"/>
              </a:lnSpc>
              <a:spcBef>
                <a:spcPct val="0"/>
              </a:spcBef>
            </a:pPr>
            <a:r>
              <a:rPr lang="en-US" sz="3658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IMPORTANCE (NUTRITIONAL/ECONOMICAL)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105129" y="653023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98888" y="645239"/>
            <a:ext cx="3373392" cy="4498261"/>
          </a:xfrm>
          <a:custGeom>
            <a:avLst/>
            <a:gdLst/>
            <a:ahLst/>
            <a:cxnLst/>
            <a:rect l="l" t="t" r="r" b="b"/>
            <a:pathLst>
              <a:path w="3373392" h="4498261">
                <a:moveTo>
                  <a:pt x="0" y="0"/>
                </a:moveTo>
                <a:lnTo>
                  <a:pt x="3373392" y="0"/>
                </a:lnTo>
                <a:lnTo>
                  <a:pt x="3373392" y="4498261"/>
                </a:lnTo>
                <a:lnTo>
                  <a:pt x="0" y="449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1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36528" y="1776787"/>
            <a:ext cx="7713062" cy="6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EGG COLLECTION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CLEANING &amp; SANITIZATION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CANDLING (INSPECTION)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WEIGHT &amp; SIZE GRADING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SHELL INSPECTION (VISION SYSTEM)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AUTOMATIC PACKING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LABELING &amp; CODING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53252" lvl="1" indent="-276626" algn="l">
              <a:lnSpc>
                <a:spcPts val="3075"/>
              </a:lnSpc>
              <a:buFont typeface="Arial"/>
              <a:buChar char="•"/>
            </a:pPr>
            <a:r>
              <a:rPr lang="en-US" sz="25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STORAGE &amp; DISTRIBUTION</a:t>
            </a: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075"/>
              </a:lnSpc>
            </a:pPr>
            <a:endParaRPr lang="en-US" sz="25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409597"/>
            <a:ext cx="8749590" cy="117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0"/>
              </a:lnSpc>
              <a:spcBef>
                <a:spcPct val="0"/>
              </a:spcBef>
            </a:pPr>
            <a:r>
              <a:rPr lang="en-US" sz="3658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MecHANISM/PRODUCTION PROCEDURE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2545" y="6524801"/>
            <a:ext cx="9790946" cy="376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689" lvl="1" indent="-293844" algn="l">
              <a:lnSpc>
                <a:spcPts val="3266"/>
              </a:lnSpc>
              <a:buFont typeface="Arial"/>
              <a:buChar char="•"/>
            </a:pPr>
            <a:r>
              <a:rPr lang="en-US" sz="27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USED IN COMMERCIAL EGG FARMS AND POULTRY INDUSTRIES</a:t>
            </a:r>
          </a:p>
          <a:p>
            <a:pPr algn="l">
              <a:lnSpc>
                <a:spcPts val="3266"/>
              </a:lnSpc>
            </a:pPr>
            <a:endParaRPr lang="en-US" sz="272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87689" lvl="1" indent="-293844" algn="l">
              <a:lnSpc>
                <a:spcPts val="3266"/>
              </a:lnSpc>
              <a:buFont typeface="Arial"/>
              <a:buChar char="•"/>
            </a:pPr>
            <a:r>
              <a:rPr lang="en-US" sz="27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ENSURES COMPLIANCE WITH SAFETY STANDARDS (USDA, FAO)</a:t>
            </a:r>
          </a:p>
          <a:p>
            <a:pPr algn="l">
              <a:lnSpc>
                <a:spcPts val="3266"/>
              </a:lnSpc>
            </a:pPr>
            <a:endParaRPr lang="en-US" sz="272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87689" lvl="1" indent="-293844" algn="l">
              <a:lnSpc>
                <a:spcPts val="3266"/>
              </a:lnSpc>
              <a:buFont typeface="Arial"/>
              <a:buChar char="•"/>
            </a:pPr>
            <a:r>
              <a:rPr lang="en-US" sz="27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QUALITY CONTROL IN LARGE-SCALE PRODUCTION</a:t>
            </a:r>
          </a:p>
          <a:p>
            <a:pPr algn="l">
              <a:lnSpc>
                <a:spcPts val="3386"/>
              </a:lnSpc>
            </a:pPr>
            <a:endParaRPr lang="en-US" sz="272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51215" y="5529373"/>
            <a:ext cx="4298597" cy="60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0"/>
              </a:lnSpc>
              <a:spcBef>
                <a:spcPct val="0"/>
              </a:spcBef>
            </a:pPr>
            <a:r>
              <a:rPr lang="en-US" sz="3558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APPLICATION/USE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105129" y="653023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376571" y="1319190"/>
            <a:ext cx="5098154" cy="4268750"/>
          </a:xfrm>
          <a:custGeom>
            <a:avLst/>
            <a:gdLst/>
            <a:ahLst/>
            <a:cxnLst/>
            <a:rect l="l" t="t" r="r" b="b"/>
            <a:pathLst>
              <a:path w="5098154" h="4268750">
                <a:moveTo>
                  <a:pt x="0" y="0"/>
                </a:moveTo>
                <a:lnTo>
                  <a:pt x="5098153" y="0"/>
                </a:lnTo>
                <a:lnTo>
                  <a:pt x="5098153" y="4268750"/>
                </a:lnTo>
                <a:lnTo>
                  <a:pt x="0" y="4268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47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9933" y="1806778"/>
            <a:ext cx="9625846" cy="4116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227" lvl="1" indent="-324114" algn="l">
              <a:lnSpc>
                <a:spcPts val="3602"/>
              </a:lnSpc>
              <a:buFont typeface="Arial"/>
              <a:buChar char="•"/>
            </a:pPr>
            <a:r>
              <a:rPr lang="en-US" sz="30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IMPROVES GRADING SPEED, HYGIENE, AND ACCURACY</a:t>
            </a:r>
          </a:p>
          <a:p>
            <a:pPr algn="l">
              <a:lnSpc>
                <a:spcPts val="3602"/>
              </a:lnSpc>
            </a:pPr>
            <a:endParaRPr lang="en-US" sz="300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48227" lvl="1" indent="-324114" algn="l">
              <a:lnSpc>
                <a:spcPts val="3602"/>
              </a:lnSpc>
              <a:buFont typeface="Arial"/>
              <a:buChar char="•"/>
            </a:pPr>
            <a:r>
              <a:rPr lang="en-US" sz="30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SUSTAINABLE PACKAGING ADDRESSES ENVIRONMENTAL CONCERNS</a:t>
            </a:r>
          </a:p>
          <a:p>
            <a:pPr algn="l">
              <a:lnSpc>
                <a:spcPts val="3602"/>
              </a:lnSpc>
            </a:pPr>
            <a:endParaRPr lang="en-US" sz="300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48227" lvl="1" indent="-324114" algn="l">
              <a:lnSpc>
                <a:spcPts val="3602"/>
              </a:lnSpc>
              <a:buFont typeface="Arial"/>
              <a:buChar char="•"/>
            </a:pPr>
            <a:r>
              <a:rPr lang="en-US" sz="30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NECESSITY FOR MODERN POULTRY INDUSTRIES GLOBALLY</a:t>
            </a:r>
          </a:p>
          <a:p>
            <a:pPr algn="l">
              <a:lnSpc>
                <a:spcPts val="3602"/>
              </a:lnSpc>
            </a:pPr>
            <a:endParaRPr lang="en-US" sz="300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62987" y="942975"/>
            <a:ext cx="3456120" cy="66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0"/>
              </a:lnSpc>
              <a:spcBef>
                <a:spcPct val="0"/>
              </a:spcBef>
            </a:pPr>
            <a:r>
              <a:rPr lang="en-US" sz="3858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57848" y="6799260"/>
            <a:ext cx="9594951" cy="363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2" lvl="1" indent="-323846" algn="l">
              <a:lnSpc>
                <a:spcPts val="35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FAO. (2021). THE FUTURE OF FOOD AND AGRICULTURE.</a:t>
            </a:r>
          </a:p>
          <a:p>
            <a:pPr algn="l">
              <a:lnSpc>
                <a:spcPts val="3599"/>
              </a:lnSpc>
            </a:pPr>
            <a:endParaRPr lang="en-US" sz="2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47692" lvl="1" indent="-323846" algn="l">
              <a:lnSpc>
                <a:spcPts val="35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USDA. (2020). EGG GRADING MANUAL.</a:t>
            </a:r>
          </a:p>
          <a:p>
            <a:pPr algn="l">
              <a:lnSpc>
                <a:spcPts val="3599"/>
              </a:lnSpc>
            </a:pPr>
            <a:endParaRPr lang="en-US" sz="2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47692" lvl="1" indent="-323846" algn="l">
              <a:lnSpc>
                <a:spcPts val="35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MOBA GROUP. (2023). EGG GRADING AND PACKING SYSTEMS.</a:t>
            </a:r>
          </a:p>
          <a:p>
            <a:pPr algn="l">
              <a:lnSpc>
                <a:spcPts val="3599"/>
              </a:lnSpc>
            </a:pPr>
            <a:endParaRPr lang="en-US" sz="2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48235" y="6013494"/>
            <a:ext cx="3456671" cy="66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0"/>
              </a:lnSpc>
              <a:spcBef>
                <a:spcPct val="0"/>
              </a:spcBef>
            </a:pPr>
            <a:r>
              <a:rPr lang="en-US" sz="3858" b="1">
                <a:solidFill>
                  <a:srgbClr val="5713E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580377">
            <a:off x="10848929" y="-8809751"/>
            <a:ext cx="24036383" cy="24664199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86644" y="3441556"/>
            <a:ext cx="8914353" cy="3241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      WATCHING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4254153" y="7476061"/>
            <a:ext cx="11881594" cy="3564478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217</Words>
  <Application>Microsoft Office PowerPoint</Application>
  <PresentationFormat>Custom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Oswald Bold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cp:lastModifiedBy>Omar Saeed Naeem</cp:lastModifiedBy>
  <cp:revision>2</cp:revision>
  <dcterms:created xsi:type="dcterms:W3CDTF">2006-08-16T00:00:00Z</dcterms:created>
  <dcterms:modified xsi:type="dcterms:W3CDTF">2025-07-29T18:00:38Z</dcterms:modified>
  <dc:identifier>DAGU9ZwNH-0</dc:identifier>
</cp:coreProperties>
</file>